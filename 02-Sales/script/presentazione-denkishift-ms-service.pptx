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868680" cy="8686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5303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DenkiCode</a:t>
            </a:r>
            <a:endParaRPr lang="en-US" sz="1500" dirty="0"/>
          </a:p>
        </p:txBody>
      </p:sp>
      <p:sp>
        <p:nvSpPr>
          <p:cNvPr id="5" name="Text 1"/>
          <p:cNvSpPr txBox="1"/>
          <p:nvPr/>
        </p:nvSpPr>
        <p:spPr>
          <a:xfrm>
            <a:off x="1463040" y="8229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house · Seveso (MB)</a:t>
            </a:r>
            <a:endParaRPr lang="en-US" sz="1050" dirty="0"/>
          </a:p>
        </p:txBody>
      </p:sp>
      <p:pic>
        <p:nvPicPr>
          <p:cNvPr id="6" name="Image 2" descr="fr-turni-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66928"/>
            <a:ext cx="3136392" cy="576072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94360" y="210312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turni della vostra squadra,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C9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fatti una volta sola.</a:t>
            </a:r>
            <a:endParaRPr lang="en-US" sz="4000" dirty="0"/>
          </a:p>
        </p:txBody>
      </p:sp>
      <p:sp>
        <p:nvSpPr>
          <p:cNvPr id="8" name="Text 3"/>
          <p:cNvSpPr txBox="1"/>
          <p:nvPr/>
        </p:nvSpPr>
        <p:spPr>
          <a:xfrm>
            <a:off x="612648" y="388620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DenkiShift costruisce la settimana di lavoro, la manda sul telefono di ogni persona e, quando qualcuno manca, vi dice subito chi può coprire.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4983480"/>
            <a:ext cx="4343400" cy="868680"/>
          </a:xfrm>
          <a:prstGeom prst="roundRect">
            <a:avLst>
              <a:gd name="adj" fmla="val 9474"/>
            </a:avLst>
          </a:prstGeom>
          <a:solidFill>
            <a:srgbClr val="1D1628"/>
          </a:solidFill>
          <a:ln w="9525">
            <a:solidFill>
              <a:srgbClr val="342A48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868680" y="51389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PREPARATA PER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868680" y="53766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 Service — Seveso (MB)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594360" y="6382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denkicode.com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costa una settimana di turni?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10972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voci che non stanno in nessun conto, ma si pagano tutte le settimane.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594360" y="1783080"/>
            <a:ext cx="3429000" cy="2834640"/>
          </a:xfrm>
          <a:prstGeom prst="roundRect">
            <a:avLst>
              <a:gd name="adj" fmla="val 2903"/>
            </a:avLst>
          </a:prstGeom>
          <a:solidFill>
            <a:srgbClr val="1D1628"/>
          </a:solidFill>
          <a:ln w="9525">
            <a:solidFill>
              <a:srgbClr val="342A4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2148840"/>
            <a:ext cx="658368" cy="658368"/>
          </a:xfrm>
          <a:prstGeom prst="ellipse">
            <a:avLst/>
          </a:prstGeom>
          <a:solidFill>
            <a:srgbClr val="2A1F3D"/>
          </a:solidFill>
          <a:ln w="9525">
            <a:solidFill>
              <a:srgbClr val="44335F"/>
            </a:solidFill>
            <a:prstDash val="solid"/>
          </a:ln>
        </p:spPr>
      </p:sp>
      <p:pic>
        <p:nvPicPr>
          <p:cNvPr id="7" name="Image 1" descr="ic-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241" y="2293681"/>
            <a:ext cx="368686" cy="36868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063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giro di telefonate</a:t>
            </a:r>
            <a:endParaRPr lang="en-US" sz="165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493008"/>
            <a:ext cx="28163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Qualcuno manca all'ultimo momento e si chiama uno per uno, sperando che il primo libero risponda.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79976" y="1783080"/>
            <a:ext cx="3429000" cy="2834640"/>
          </a:xfrm>
          <a:prstGeom prst="roundRect">
            <a:avLst>
              <a:gd name="adj" fmla="val 2903"/>
            </a:avLst>
          </a:prstGeom>
          <a:solidFill>
            <a:srgbClr val="1D1628"/>
          </a:solidFill>
          <a:ln w="9525">
            <a:solidFill>
              <a:srgbClr val="342A4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700016" y="2148840"/>
            <a:ext cx="658368" cy="658368"/>
          </a:xfrm>
          <a:prstGeom prst="ellipse">
            <a:avLst/>
          </a:prstGeom>
          <a:solidFill>
            <a:srgbClr val="2A1F3D"/>
          </a:solidFill>
          <a:ln w="9525">
            <a:solidFill>
              <a:srgbClr val="44335F"/>
            </a:solidFill>
            <a:prstDash val="solid"/>
          </a:ln>
        </p:spPr>
      </p:sp>
      <p:pic>
        <p:nvPicPr>
          <p:cNvPr id="12" name="Image 2" descr="ic-mess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857" y="2293681"/>
            <a:ext cx="368686" cy="36868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00016" y="3063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equivoci</a:t>
            </a:r>
            <a:endParaRPr lang="en-US" sz="1650" dirty="0"/>
          </a:p>
        </p:txBody>
      </p:sp>
      <p:sp>
        <p:nvSpPr>
          <p:cNvPr id="14" name="Text 9"/>
          <p:cNvSpPr txBox="1"/>
          <p:nvPr/>
        </p:nvSpPr>
        <p:spPr>
          <a:xfrm>
            <a:off x="4700016" y="3493008"/>
            <a:ext cx="28163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L'orario vive in un gruppo di messaggi: chi non lo legge sbaglia posto o orario, e se ne accorge il cliente.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165592" y="1783080"/>
            <a:ext cx="3429000" cy="2834640"/>
          </a:xfrm>
          <a:prstGeom prst="roundRect">
            <a:avLst>
              <a:gd name="adj" fmla="val 2903"/>
            </a:avLst>
          </a:prstGeom>
          <a:solidFill>
            <a:srgbClr val="1D1628"/>
          </a:solidFill>
          <a:ln w="9525">
            <a:solidFill>
              <a:srgbClr val="342A48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485632" y="2148840"/>
            <a:ext cx="658368" cy="658368"/>
          </a:xfrm>
          <a:prstGeom prst="ellipse">
            <a:avLst/>
          </a:prstGeom>
          <a:solidFill>
            <a:srgbClr val="2A1F3D"/>
          </a:solidFill>
          <a:ln w="9525">
            <a:solidFill>
              <a:srgbClr val="44335F"/>
            </a:solidFill>
            <a:prstDash val="solid"/>
          </a:ln>
        </p:spPr>
      </p:sp>
      <p:pic>
        <p:nvPicPr>
          <p:cNvPr id="17" name="Image 3" descr="ic-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0473" y="2293681"/>
            <a:ext cx="368686" cy="36868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485632" y="3063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conti a fine mese</a:t>
            </a:r>
            <a:endParaRPr lang="en-US" sz="1650" dirty="0"/>
          </a:p>
        </p:txBody>
      </p:sp>
      <p:sp>
        <p:nvSpPr>
          <p:cNvPr id="19" name="Text 13"/>
          <p:cNvSpPr txBox="1"/>
          <p:nvPr/>
        </p:nvSpPr>
        <p:spPr>
          <a:xfrm>
            <a:off x="8485632" y="3493008"/>
            <a:ext cx="28163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ore si ricostruiscono a mano da fogli e chat, e gli errori si scoprono quando sono già in busta.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594360" y="5120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DenkiShift è nato per cancellare queste tre voci.  </a:t>
            </a:r>
            <a:pPr indent="0" marL="0">
              <a:buNone/>
            </a:pPr>
            <a:r>
              <a:rPr lang="en-US" sz="140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prossime pagine mostrano come.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" y="457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settimana si costruisce una volta sola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8503920" y="621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 reale · nomi di fantasia</a:t>
            </a:r>
            <a:endParaRPr lang="en-US" sz="1000" dirty="0"/>
          </a:p>
        </p:txBody>
      </p:sp>
      <p:pic>
        <p:nvPicPr>
          <p:cNvPr id="5" name="Image 1" descr="fr-tabell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8915400" cy="47548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464040" y="1737360"/>
            <a:ext cx="82296" cy="237744"/>
          </a:xfrm>
          <a:prstGeom prst="roundRect">
            <a:avLst>
              <a:gd name="adj" fmla="val 44444"/>
            </a:avLst>
          </a:prstGeom>
          <a:solidFill>
            <a:srgbClr val="DA2F9B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9683496" y="169164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ore accanto al nome</a:t>
            </a:r>
            <a:endParaRPr lang="en-US" sz="1350" dirty="0"/>
          </a:p>
        </p:txBody>
      </p:sp>
      <p:sp>
        <p:nvSpPr>
          <p:cNvPr id="8" name="Text 4"/>
          <p:cNvSpPr txBox="1"/>
          <p:nvPr/>
        </p:nvSpPr>
        <p:spPr>
          <a:xfrm>
            <a:off x="9683496" y="2020824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è al limite e chi può prendere un altro turno si vede a colpo d'occhio.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9464040" y="3218688"/>
            <a:ext cx="82296" cy="237744"/>
          </a:xfrm>
          <a:prstGeom prst="roundRect">
            <a:avLst>
              <a:gd name="adj" fmla="val 44444"/>
            </a:avLst>
          </a:prstGeom>
          <a:solidFill>
            <a:srgbClr val="DA2F9B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9683496" y="317296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Assenze già contate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9683496" y="350215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malattia sospende i turni della persona, e il conto delle ore si corregge da solo.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9464040" y="4700016"/>
            <a:ext cx="82296" cy="237744"/>
          </a:xfrm>
          <a:prstGeom prst="roundRect">
            <a:avLst>
              <a:gd name="adj" fmla="val 44444"/>
            </a:avLst>
          </a:prstGeom>
          <a:solidFill>
            <a:srgbClr val="DA2F9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9683496" y="4654296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modifica trascinando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9683496" y="4983480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Spostare un turno è un gesto, non una riscrittura della settimana.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" y="457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buchi si vedono prima che facciano danno</a:t>
            </a:r>
            <a:endParaRPr lang="en-US" sz="2800" dirty="0"/>
          </a:p>
        </p:txBody>
      </p:sp>
      <p:pic>
        <p:nvPicPr>
          <p:cNvPr id="4" name="Image 1" descr="fr-supervisi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88720"/>
            <a:ext cx="8595360" cy="491947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94360" y="1737360"/>
            <a:ext cx="82296" cy="237744"/>
          </a:xfrm>
          <a:prstGeom prst="roundRect">
            <a:avLst>
              <a:gd name="adj" fmla="val 44444"/>
            </a:avLst>
          </a:prstGeom>
          <a:solidFill>
            <a:srgbClr val="DA2F9B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13816" y="169164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Verde: coperto</a:t>
            </a:r>
            <a:endParaRPr lang="en-US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813816" y="2020824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quella fascia le persone bastano. Non serve contare: il conto è già fatto.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594360" y="3218688"/>
            <a:ext cx="82296" cy="237744"/>
          </a:xfrm>
          <a:prstGeom prst="roundRect">
            <a:avLst>
              <a:gd name="adj" fmla="val 44444"/>
            </a:avLst>
          </a:prstGeom>
          <a:solidFill>
            <a:srgbClr val="DA2F9B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13816" y="3172968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Rosso: manca uno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813816" y="3502152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turno scoperto salta fuori adesso, non alle otto di sera.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94360" y="4700016"/>
            <a:ext cx="82296" cy="237744"/>
          </a:xfrm>
          <a:prstGeom prst="roundRect">
            <a:avLst>
              <a:gd name="adj" fmla="val 44444"/>
            </a:avLst>
          </a:prstGeom>
          <a:solidFill>
            <a:srgbClr val="DA2F9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13816" y="4654296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reparto, la sua regola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813816" y="4983480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Quante persone servono, in che ore e in che giorni lo decidete voi.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" y="5029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Ognuno vede la sua. Sul suo telefono.</a:t>
            </a:r>
            <a:endParaRPr lang="en-US" sz="2800" dirty="0"/>
          </a:p>
        </p:txBody>
      </p:sp>
      <p:pic>
        <p:nvPicPr>
          <p:cNvPr id="4" name="Image 1" descr="fr-turni-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34440"/>
            <a:ext cx="2880360" cy="5294376"/>
          </a:xfrm>
          <a:prstGeom prst="rect">
            <a:avLst/>
          </a:prstGeom>
        </p:spPr>
      </p:pic>
      <p:pic>
        <p:nvPicPr>
          <p:cNvPr id="5" name="Image 2" descr="fr-supervisione-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1234440"/>
            <a:ext cx="2880360" cy="5294376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594360" y="1737360"/>
            <a:ext cx="82296" cy="237744"/>
          </a:xfrm>
          <a:prstGeom prst="roundRect">
            <a:avLst>
              <a:gd name="adj" fmla="val 44444"/>
            </a:avLst>
          </a:prstGeom>
          <a:solidFill>
            <a:srgbClr val="DA2F9B"/>
          </a:solidFill>
          <a:ln/>
        </p:spPr>
      </p:sp>
      <p:sp>
        <p:nvSpPr>
          <p:cNvPr id="7" name="Text 2"/>
          <p:cNvSpPr txBox="1"/>
          <p:nvPr/>
        </p:nvSpPr>
        <p:spPr>
          <a:xfrm>
            <a:off x="813816" y="1691640"/>
            <a:ext cx="4809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suoi turni, e basta</a:t>
            </a:r>
            <a:endParaRPr lang="en-US" sz="1500" dirty="0"/>
          </a:p>
        </p:txBody>
      </p:sp>
      <p:sp>
        <p:nvSpPr>
          <p:cNvPr id="8" name="Text 3"/>
          <p:cNvSpPr txBox="1"/>
          <p:nvPr/>
        </p:nvSpPr>
        <p:spPr>
          <a:xfrm>
            <a:off x="813816" y="2020824"/>
            <a:ext cx="4809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Orario, reparto, riposi e totale ore della settimana. Ognuno apre l'app e trova la sua parte, sempre aggiornata.</a:t>
            </a:r>
            <a:endParaRPr lang="en-US" sz="1250" dirty="0"/>
          </a:p>
        </p:txBody>
      </p:sp>
      <p:sp>
        <p:nvSpPr>
          <p:cNvPr id="9" name="Shape 4"/>
          <p:cNvSpPr/>
          <p:nvPr/>
        </p:nvSpPr>
        <p:spPr>
          <a:xfrm>
            <a:off x="594360" y="3154680"/>
            <a:ext cx="82296" cy="237744"/>
          </a:xfrm>
          <a:prstGeom prst="roundRect">
            <a:avLst>
              <a:gd name="adj" fmla="val 44444"/>
            </a:avLst>
          </a:prstGeom>
          <a:solidFill>
            <a:srgbClr val="DA2F9B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813816" y="3108960"/>
            <a:ext cx="4809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Niente foglio in bacheca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813816" y="3438144"/>
            <a:ext cx="4809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settimana pubblicata arriva uguale per tutti: una versione sola, niente foto sfocate sul gruppo.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594360" y="4572000"/>
            <a:ext cx="82296" cy="237744"/>
          </a:xfrm>
          <a:prstGeom prst="roundRect">
            <a:avLst>
              <a:gd name="adj" fmla="val 44444"/>
            </a:avLst>
          </a:prstGeom>
          <a:solidFill>
            <a:srgbClr val="DA2F9B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813816" y="4526280"/>
            <a:ext cx="4809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responsabile la vede da fuori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813816" y="4855464"/>
            <a:ext cx="4809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giornata si controlla dal telefono, reparto per reparto, ovunque vi troviate.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59436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sinistra: la settimana del dipendente. A destra: la giornata vista dal responsabile.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7764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Ferie e permessi, senza fogli volanti</a:t>
            </a:r>
            <a:endParaRPr lang="en-US" sz="2800" dirty="0"/>
          </a:p>
        </p:txBody>
      </p:sp>
      <p:pic>
        <p:nvPicPr>
          <p:cNvPr id="4" name="Image 1" descr="fr-permess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777240"/>
            <a:ext cx="2971800" cy="546811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977640" y="1508760"/>
            <a:ext cx="82296" cy="237744"/>
          </a:xfrm>
          <a:prstGeom prst="roundRect">
            <a:avLst>
              <a:gd name="adj" fmla="val 44444"/>
            </a:avLst>
          </a:prstGeom>
          <a:solidFill>
            <a:srgbClr val="DA2F9B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4197096" y="1463040"/>
            <a:ext cx="7278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richiesta parte dal telefono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4197096" y="1792224"/>
            <a:ext cx="7278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e motivo, con un pulsante. Niente biglietti, niente «te l'avevo detto».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3977640" y="2743200"/>
            <a:ext cx="82296" cy="237744"/>
          </a:xfrm>
          <a:prstGeom prst="roundRect">
            <a:avLst>
              <a:gd name="adj" fmla="val 44444"/>
            </a:avLst>
          </a:prstGeom>
          <a:solidFill>
            <a:srgbClr val="DA2F9B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4197096" y="2697480"/>
            <a:ext cx="7278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Approvata o rifiutata, resta scritto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4197096" y="3026664"/>
            <a:ext cx="7278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richiesta ha il suo stato: chi ha chiesto cosa, e com'è finita.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977640" y="3977640"/>
            <a:ext cx="82296" cy="237744"/>
          </a:xfrm>
          <a:prstGeom prst="roundRect">
            <a:avLst>
              <a:gd name="adj" fmla="val 44444"/>
            </a:avLst>
          </a:prstGeom>
          <a:solidFill>
            <a:srgbClr val="DA2F9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197096" y="3931920"/>
            <a:ext cx="7278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assenze sul calendario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197096" y="4261104"/>
            <a:ext cx="7278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manca si vede prima di costruire la settimana, non dopo.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3977640" y="5212080"/>
            <a:ext cx="82296" cy="237744"/>
          </a:xfrm>
          <a:prstGeom prst="roundRect">
            <a:avLst>
              <a:gd name="adj" fmla="val 44444"/>
            </a:avLst>
          </a:prstGeom>
          <a:solidFill>
            <a:srgbClr val="DA2F9B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197096" y="5166360"/>
            <a:ext cx="7278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Ognuno vede solo il suo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197096" y="5495544"/>
            <a:ext cx="7278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assenze delicate restano tra la persona e chi gestisce: per legge, e per rispetto.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cambia per voi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94360" y="141732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1D1628"/>
          </a:solidFill>
          <a:ln w="9525">
            <a:solidFill>
              <a:srgbClr val="342A4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rgbClr val="2A1F3D"/>
          </a:solidFill>
          <a:ln w="9525">
            <a:solidFill>
              <a:srgbClr val="44335F"/>
            </a:solidFill>
            <a:prstDash val="solid"/>
          </a:ln>
        </p:spPr>
      </p:sp>
      <p:pic>
        <p:nvPicPr>
          <p:cNvPr id="6" name="Image 1" descr="ic-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" y="1802282"/>
            <a:ext cx="281635" cy="28163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27048" y="1783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 ore di gestione</a:t>
            </a:r>
            <a:endParaRPr lang="en-US" sz="145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2441448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settimana si prepara una volta, e la prossima parte da quella.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379976" y="141732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1D1628"/>
          </a:solidFill>
          <a:ln w="9525">
            <a:solidFill>
              <a:srgbClr val="342A4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654296" y="1691640"/>
            <a:ext cx="502920" cy="502920"/>
          </a:xfrm>
          <a:prstGeom prst="ellipse">
            <a:avLst/>
          </a:prstGeom>
          <a:solidFill>
            <a:srgbClr val="2A1F3D"/>
          </a:solidFill>
          <a:ln w="9525">
            <a:solidFill>
              <a:srgbClr val="44335F"/>
            </a:solidFill>
            <a:prstDash val="solid"/>
          </a:ln>
        </p:spPr>
      </p:sp>
      <p:pic>
        <p:nvPicPr>
          <p:cNvPr id="11" name="Image 2" descr="ic-refre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938" y="1802282"/>
            <a:ext cx="281635" cy="28163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12664" y="1783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Sostituzioni in un minuto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4654296" y="2441448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è libero e chi è già a monte ore: ve lo dice il programma.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165592" y="141732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1D1628"/>
          </a:solidFill>
          <a:ln w="9525">
            <a:solidFill>
              <a:srgbClr val="342A48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439912" y="1691640"/>
            <a:ext cx="502920" cy="502920"/>
          </a:xfrm>
          <a:prstGeom prst="ellipse">
            <a:avLst/>
          </a:prstGeom>
          <a:solidFill>
            <a:srgbClr val="2A1F3D"/>
          </a:solidFill>
          <a:ln w="9525">
            <a:solidFill>
              <a:srgbClr val="44335F"/>
            </a:solidFill>
            <a:prstDash val="solid"/>
          </a:ln>
        </p:spPr>
      </p:sp>
      <p:pic>
        <p:nvPicPr>
          <p:cNvPr id="16" name="Image 3" descr="ic-mess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0554" y="1802282"/>
            <a:ext cx="281635" cy="28163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098280" y="1783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equivoci</a:t>
            </a:r>
            <a:endParaRPr lang="en-US" sz="1450" dirty="0"/>
          </a:p>
        </p:txBody>
      </p:sp>
      <p:sp>
        <p:nvSpPr>
          <p:cNvPr id="18" name="Text 12"/>
          <p:cNvSpPr txBox="1"/>
          <p:nvPr/>
        </p:nvSpPr>
        <p:spPr>
          <a:xfrm>
            <a:off x="8439912" y="2441448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orario ufficiale per tutti, sempre aggiornato.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94360" y="3538728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1D1628"/>
          </a:solidFill>
          <a:ln w="9525">
            <a:solidFill>
              <a:srgbClr val="342A48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68680" y="3813048"/>
            <a:ext cx="502920" cy="502920"/>
          </a:xfrm>
          <a:prstGeom prst="ellipse">
            <a:avLst/>
          </a:prstGeom>
          <a:solidFill>
            <a:srgbClr val="2A1F3D"/>
          </a:solidFill>
          <a:ln w="9525">
            <a:solidFill>
              <a:srgbClr val="44335F"/>
            </a:solidFill>
            <a:prstDash val="solid"/>
          </a:ln>
        </p:spPr>
      </p:sp>
      <p:pic>
        <p:nvPicPr>
          <p:cNvPr id="21" name="Image 4" descr="ic-fi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" y="3923690"/>
            <a:ext cx="281635" cy="28163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527048" y="39044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 già pronti</a:t>
            </a:r>
            <a:endParaRPr lang="en-US" sz="1450" dirty="0"/>
          </a:p>
        </p:txBody>
      </p:sp>
      <p:sp>
        <p:nvSpPr>
          <p:cNvPr id="23" name="Text 16"/>
          <p:cNvSpPr txBox="1"/>
          <p:nvPr/>
        </p:nvSpPr>
        <p:spPr>
          <a:xfrm>
            <a:off x="868680" y="4562856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prospetto delle ore per persona si legge, non si ricostruisce.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4379976" y="3538728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1D1628"/>
          </a:solidFill>
          <a:ln w="9525">
            <a:solidFill>
              <a:srgbClr val="342A48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654296" y="3813048"/>
            <a:ext cx="502920" cy="502920"/>
          </a:xfrm>
          <a:prstGeom prst="ellipse">
            <a:avLst/>
          </a:prstGeom>
          <a:solidFill>
            <a:srgbClr val="2A1F3D"/>
          </a:solidFill>
          <a:ln w="9525">
            <a:solidFill>
              <a:srgbClr val="44335F"/>
            </a:solidFill>
            <a:prstDash val="solid"/>
          </a:ln>
        </p:spPr>
      </p:sp>
      <p:pic>
        <p:nvPicPr>
          <p:cNvPr id="26" name="Image 5" descr="ic-us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4938" y="3923690"/>
            <a:ext cx="281635" cy="28163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312664" y="39044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Tutta la squadra dentro</a:t>
            </a:r>
            <a:endParaRPr lang="en-US" sz="1450" dirty="0"/>
          </a:p>
        </p:txBody>
      </p:sp>
      <p:sp>
        <p:nvSpPr>
          <p:cNvPr id="28" name="Text 20"/>
          <p:cNvSpPr txBox="1"/>
          <p:nvPr/>
        </p:nvSpPr>
        <p:spPr>
          <a:xfrm>
            <a:off x="4654296" y="4562856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Anche chi non usa lo smartphone sta nel tabellone, senza account.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8165592" y="3538728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1D1628"/>
          </a:solidFill>
          <a:ln w="9525">
            <a:solidFill>
              <a:srgbClr val="342A48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8439912" y="3813048"/>
            <a:ext cx="502920" cy="502920"/>
          </a:xfrm>
          <a:prstGeom prst="ellipse">
            <a:avLst/>
          </a:prstGeom>
          <a:solidFill>
            <a:srgbClr val="2A1F3D"/>
          </a:solidFill>
          <a:ln w="9525">
            <a:solidFill>
              <a:srgbClr val="44335F"/>
            </a:solidFill>
            <a:prstDash val="solid"/>
          </a:ln>
        </p:spPr>
      </p:sp>
      <p:pic>
        <p:nvPicPr>
          <p:cNvPr id="31" name="Image 6" descr="ic-lo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0554" y="3923690"/>
            <a:ext cx="281635" cy="281635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9098280" y="39044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riservati</a:t>
            </a:r>
            <a:endParaRPr lang="en-US" sz="1450" dirty="0"/>
          </a:p>
        </p:txBody>
      </p:sp>
      <p:sp>
        <p:nvSpPr>
          <p:cNvPr id="33" name="Text 24"/>
          <p:cNvSpPr txBox="1"/>
          <p:nvPr/>
        </p:nvSpPr>
        <p:spPr>
          <a:xfrm>
            <a:off x="8439912" y="4562856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Malattie e permessi protetti: ognuno vede soltanto il suo.</a:t>
            </a:r>
            <a:endParaRPr lang="en-US" sz="1200" dirty="0"/>
          </a:p>
        </p:txBody>
      </p:sp>
      <p:sp>
        <p:nvSpPr>
          <p:cNvPr id="34" name="Text 25"/>
          <p:cNvSpPr txBox="1"/>
          <p:nvPr/>
        </p:nvSpPr>
        <p:spPr>
          <a:xfrm>
            <a:off x="59436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la squadra non deve imparare niente di complicato: se sa usare WhatsApp, sa usare DenkiShift.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parte così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94360" y="1463040"/>
            <a:ext cx="475488" cy="475488"/>
          </a:xfrm>
          <a:prstGeom prst="ellipse">
            <a:avLst/>
          </a:prstGeom>
          <a:solidFill>
            <a:srgbClr val="8A38C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" y="149961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Dieci minuti di dimostrazione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81051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vivo o in videochiamata: vedete il programma che gira davvero, con una settimana vera dentro.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94360" y="2761488"/>
            <a:ext cx="475488" cy="475488"/>
          </a:xfrm>
          <a:prstGeom prst="ellipse">
            <a:avLst/>
          </a:prstGeom>
          <a:solidFill>
            <a:srgbClr val="8A38C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2798064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7614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configuriamo noi, con i vostri dati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31089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passate l'elenco delle persone — va bene anche l'Excel che usate già — e non pagate nulla per vederla pronta.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4360" y="4059936"/>
            <a:ext cx="475488" cy="475488"/>
          </a:xfrm>
          <a:prstGeom prst="ellipse">
            <a:avLst/>
          </a:prstGeom>
          <a:solidFill>
            <a:srgbClr val="8A38C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4360" y="4096512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405993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Decidete dopo averla vista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440740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non fa per voi, ci salutiamo e non avete speso un euro. Il rischio della prova ce lo prendiamo noi.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903720" y="1325880"/>
            <a:ext cx="4709160" cy="3794760"/>
          </a:xfrm>
          <a:prstGeom prst="roundRect">
            <a:avLst>
              <a:gd name="adj" fmla="val 2169"/>
            </a:avLst>
          </a:prstGeom>
          <a:solidFill>
            <a:srgbClr val="1D1628"/>
          </a:solidFill>
          <a:ln w="9525">
            <a:solidFill>
              <a:srgbClr val="342A4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269480" y="16916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COSTA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269480" y="20116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240 € </a:t>
            </a:r>
            <a:pPr indent="0" marL="0">
              <a:buNone/>
            </a:pPr>
            <a:r>
              <a:rPr lang="en-US" sz="4000" b="1" dirty="0">
                <a:solidFill>
                  <a:srgbClr val="C9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l'anno</a:t>
            </a:r>
            <a:endParaRPr 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7269480" y="2743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una squadra di dieci persone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7269480" y="320040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Tutto compreso: configurazione iniziale fatta da noi, aggiornamenti e assistenza diretta su WhatsApp — risponde una persona, non un centralino.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269480" y="42519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annuale unica, con ricevuta. Alla scadenza decidete voi se rinnovare.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94360" y="5486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2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serve una cosa che qui non c'è?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 la sviluppiamo noi: le funzioni che vi mancano si aggiungono su richiesta, costruite su come lavorate voi.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943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Patrick Sappa · DenkiCode — Seveso (MB) · denkicode.com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2026-09-01T10:12:46Z</dcterms:created>
  <dcterms:modified xsi:type="dcterms:W3CDTF">2026-09-01T10:12:46Z</dcterms:modified>
</cp:coreProperties>
</file>